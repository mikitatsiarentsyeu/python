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35" r:id="rId5"/>
    <p:sldId id="337" r:id="rId6"/>
    <p:sldId id="338" r:id="rId7"/>
    <p:sldId id="34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394" autoAdjust="0"/>
  </p:normalViewPr>
  <p:slideViewPr>
    <p:cSldViewPr snapToGrid="0">
      <p:cViewPr varScale="1">
        <p:scale>
          <a:sx n="91" d="100"/>
          <a:sy n="91" d="100"/>
        </p:scale>
        <p:origin x="322" y="72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3/3/2025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3/3/2025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71616" y="960120"/>
            <a:ext cx="5221224" cy="3056343"/>
          </a:xfrm>
        </p:spPr>
        <p:txBody>
          <a:bodyPr anchor="b">
            <a:normAutofit/>
          </a:bodyPr>
          <a:lstStyle>
            <a:lvl1pPr algn="l">
              <a:defRPr sz="4000" b="1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7"/>
          <a:stretch/>
        </p:blipFill>
        <p:spPr>
          <a:xfrm>
            <a:off x="0" y="0"/>
            <a:ext cx="61530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8297380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5631" y="2072640"/>
            <a:ext cx="8324089" cy="3493008"/>
          </a:xfrm>
        </p:spPr>
        <p:txBody>
          <a:bodyPr>
            <a:normAutofit/>
          </a:bodyPr>
          <a:lstStyle>
            <a:lvl1pPr marL="228600" indent="-22860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" r="26226" b="3861"/>
          <a:stretch/>
        </p:blipFill>
        <p:spPr>
          <a:xfrm>
            <a:off x="9415463" y="264696"/>
            <a:ext cx="2776538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2208" y="42062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5969" y="-9144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7620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7678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240" y="-15240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4084320"/>
            <a:ext cx="5864225" cy="2362835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6583680"/>
            <a:ext cx="7620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441960"/>
            <a:ext cx="5641897" cy="3316893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9694" y="4068392"/>
            <a:ext cx="5580586" cy="219759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2800"/>
            </a:lvl1pPr>
            <a:lvl2pPr marL="457200" indent="0">
              <a:lnSpc>
                <a:spcPts val="2400"/>
              </a:lnSpc>
              <a:buNone/>
              <a:defRPr sz="2000"/>
            </a:lvl2pPr>
            <a:lvl3pPr marL="914400" indent="0">
              <a:lnSpc>
                <a:spcPts val="2400"/>
              </a:lnSpc>
              <a:buNone/>
              <a:defRPr sz="2000"/>
            </a:lvl3pPr>
            <a:lvl4pPr marL="1371600" indent="0">
              <a:lnSpc>
                <a:spcPts val="2400"/>
              </a:lnSpc>
              <a:buNone/>
              <a:defRPr sz="2000"/>
            </a:lvl4pPr>
            <a:lvl5pPr marL="1828800" indent="0">
              <a:lnSpc>
                <a:spcPts val="2400"/>
              </a:lnSpc>
              <a:buNone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6"/>
          <a:stretch/>
        </p:blipFill>
        <p:spPr>
          <a:xfrm>
            <a:off x="0" y="0"/>
            <a:ext cx="4661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  <a:lvl6pPr marL="1600200">
              <a:defRPr/>
            </a:lvl6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4"/>
            <a:r>
              <a:rPr lang="en-US" dirty="0"/>
              <a:t>Fourth level</a:t>
            </a:r>
          </a:p>
          <a:p>
            <a:pPr lvl="5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10644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3144837" cy="3687763"/>
          </a:xfrm>
        </p:spPr>
        <p:txBody>
          <a:bodyPr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6858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11430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6002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20574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56760" y="2073275"/>
            <a:ext cx="6192838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3"/>
            <a:ext cx="2182090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3" r="19367" b="20417"/>
          <a:stretch/>
        </p:blipFill>
        <p:spPr>
          <a:xfrm>
            <a:off x="4977245" y="0"/>
            <a:ext cx="7214755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87880"/>
            <a:ext cx="102108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79320" y="4094802"/>
            <a:ext cx="10027919" cy="246888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26920"/>
            <a:ext cx="301752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5963" y="2026603"/>
            <a:ext cx="6766877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1200"/>
              </a:spcAft>
              <a:defRPr/>
            </a:lvl1pPr>
            <a:lvl2pPr>
              <a:spcBef>
                <a:spcPts val="0"/>
              </a:spcBef>
              <a:spcAft>
                <a:spcPts val="600"/>
              </a:spcAft>
              <a:defRPr/>
            </a:lvl2pPr>
            <a:lvl3pPr>
              <a:spcBef>
                <a:spcPts val="0"/>
              </a:spcBef>
              <a:spcAft>
                <a:spcPts val="600"/>
              </a:spcAft>
              <a:defRPr/>
            </a:lvl3pPr>
            <a:lvl4pPr>
              <a:spcBef>
                <a:spcPts val="0"/>
              </a:spcBef>
              <a:spcAft>
                <a:spcPts val="600"/>
              </a:spcAft>
              <a:defRPr sz="2000"/>
            </a:lvl4pPr>
            <a:lvl5pPr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50" r="58720" b="30269"/>
          <a:stretch/>
        </p:blipFill>
        <p:spPr>
          <a:xfrm>
            <a:off x="8972551" y="5081287"/>
            <a:ext cx="3219450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58669"/>
            <a:ext cx="6192838" cy="3687763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95483" y="2058670"/>
            <a:ext cx="3002755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43429"/>
            <a:ext cx="10405174" cy="3925467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5" r="24023" b="11733"/>
          <a:stretch/>
        </p:blipFill>
        <p:spPr>
          <a:xfrm>
            <a:off x="4478101" y="0"/>
            <a:ext cx="77138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352" y="505016"/>
            <a:ext cx="5775656" cy="3284932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1353" y="4006024"/>
            <a:ext cx="5794248" cy="234696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16" y="-50037"/>
            <a:ext cx="12186031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docs.github.com/en/get-started/using-github/github-flow" TargetMode="Externa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kitaTsiarentsyeu/highres24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1616" y="960120"/>
            <a:ext cx="5221224" cy="3056343"/>
          </a:xfrm>
        </p:spPr>
        <p:txBody>
          <a:bodyPr/>
          <a:lstStyle/>
          <a:p>
            <a:r>
              <a:rPr lang="en-US" dirty="0"/>
              <a:t>Lesson 2 – </a:t>
            </a:r>
            <a:r>
              <a:rPr lang="en-US" dirty="0" err="1"/>
              <a:t>Github</a:t>
            </a:r>
            <a:r>
              <a:rPr lang="en-US" dirty="0"/>
              <a:t> flow</a:t>
            </a:r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546227-E3E5-577B-8B95-1BA10AE85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it works IRL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4EF7AA-EBAD-1225-85F0-53B3F1C6FC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a typeface="Jura" pitchFamily="2" charset="0"/>
              </a:rPr>
              <a:t>development, </a:t>
            </a:r>
            <a:r>
              <a:rPr lang="en-US" sz="2000" dirty="0" err="1">
                <a:ea typeface="Jura" pitchFamily="2" charset="0"/>
              </a:rPr>
              <a:t>devops</a:t>
            </a:r>
            <a:r>
              <a:rPr lang="en-US" sz="2000" dirty="0">
                <a:ea typeface="Jura" pitchFamily="2" charset="0"/>
              </a:rPr>
              <a:t> and </a:t>
            </a:r>
            <a:r>
              <a:rPr lang="en-US" sz="2000" dirty="0" err="1">
                <a:ea typeface="Jura" pitchFamily="2" charset="0"/>
              </a:rPr>
              <a:t>qa</a:t>
            </a:r>
            <a:r>
              <a:rPr lang="en-US" sz="2000" dirty="0">
                <a:ea typeface="Jura" pitchFamily="2" charset="0"/>
              </a:rPr>
              <a:t> engineers are using at least one git repository for collaboration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a typeface="Jura" pitchFamily="2" charset="0"/>
              </a:rPr>
              <a:t>everybody’s making mistakes and code-blocking each other, the work requires some additional control and coordination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a typeface="Jura" pitchFamily="2" charset="0"/>
              </a:rPr>
              <a:t>the options are either to oversee each step of each team member or to establish a simple and unambiguous process of collaboration, usually called a flow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93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4CEE03E-C939-0E3B-5612-FC8E192B5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Github</a:t>
            </a:r>
            <a:r>
              <a:rPr lang="en-US" dirty="0"/>
              <a:t> flow</a:t>
            </a:r>
            <a:br>
              <a:rPr lang="en-US" dirty="0"/>
            </a:br>
            <a:r>
              <a:rPr lang="en-US" sz="1100" dirty="0">
                <a:hlinkClick r:id="rId2"/>
              </a:rPr>
              <a:t>https://docs.github.com/en/get-started/using-github/github-flow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D58D2D-0727-2010-7253-260F38B7DBE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50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switch to master and pull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create a new branch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make some changes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create pull request (PR)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wait for a review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address comments, rework in the same branch (hence, same PR)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merge approved PR or wait for the owner to merge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20CEC-4381-B60D-59B7-1E74BF9D9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A688EFA-FAB4-BD4E-CF74-E5E58AE790C0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963" y="2080760"/>
            <a:ext cx="6767512" cy="3795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9085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F31F4-A7C8-AC69-C0A8-3674E0264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8B47C7-657A-2CC6-6680-E2F036FC4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repo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6DB84D-A9E8-E517-CA27-8740ADC93C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https://github.com/MikitaTsiarentsyeu/highres24.git</a:t>
            </a:r>
            <a:endParaRPr lang="en-US" dirty="0"/>
          </a:p>
          <a:p>
            <a:r>
              <a:rPr lang="en-US" dirty="0"/>
              <a:t>everybody should be a collaborator (ping me to add you)</a:t>
            </a:r>
          </a:p>
          <a:p>
            <a:r>
              <a:rPr lang="en-US" dirty="0"/>
              <a:t>everybody works in one repo, no forks!</a:t>
            </a:r>
          </a:p>
          <a:p>
            <a:r>
              <a:rPr lang="en-US" dirty="0"/>
              <a:t>nobody except for the owner has rights to </a:t>
            </a:r>
            <a:r>
              <a:rPr lang="en-US"/>
              <a:t>push to </a:t>
            </a:r>
            <a:r>
              <a:rPr lang="en-US" dirty="0"/>
              <a:t>master, you can try, but it will result in error, don’t worry, it’s normal; just work according to the GitHub flow</a:t>
            </a:r>
          </a:p>
        </p:txBody>
      </p:sp>
    </p:spTree>
    <p:extLst>
      <p:ext uri="{BB962C8B-B14F-4D97-AF65-F5344CB8AC3E}">
        <p14:creationId xmlns:p14="http://schemas.microsoft.com/office/powerpoint/2010/main" val="358057257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11248_Win32_SL_V4" id="{806921AB-1FF9-416C-A3A7-D14200787132}" vid="{8436FA26-ADF6-4DA9-8A70-95C197E774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C5040CA-20CC-43C6-BC0C-8D8696B6AF89}">
  <ds:schemaRefs>
    <ds:schemaRef ds:uri="http://schemas.microsoft.com/sharepoint/v3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http://www.w3.org/XML/1998/namespace"/>
    <ds:schemaRef ds:uri="230e9df3-be65-4c73-a93b-d1236ebd677e"/>
    <ds:schemaRef ds:uri="http://purl.org/dc/elements/1.1/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FBA14A9-9290-4E1F-A1C4-0305BFA57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{1A5FCCC0-B757-4F41-B31B-E2BEB23560AF}tf16411248_win32</Template>
  <TotalTime>75</TotalTime>
  <Words>202</Words>
  <Application>Microsoft Office PowerPoint</Application>
  <PresentationFormat>Widescreen</PresentationFormat>
  <Paragraphs>19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Avenir Next LT Pro Light</vt:lpstr>
      <vt:lpstr>Calibri</vt:lpstr>
      <vt:lpstr>Jura</vt:lpstr>
      <vt:lpstr>Posterama</vt:lpstr>
      <vt:lpstr>Custom</vt:lpstr>
      <vt:lpstr>Lesson 2 – Github flow</vt:lpstr>
      <vt:lpstr>How it works IRL</vt:lpstr>
      <vt:lpstr>Github flow https://docs.github.com/en/get-started/using-github/github-flow</vt:lpstr>
      <vt:lpstr>OUR repo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Mikita Tsiarentsyeu</dc:creator>
  <cp:lastModifiedBy>Mikita Tsiarentsyeu</cp:lastModifiedBy>
  <cp:revision>9</cp:revision>
  <dcterms:created xsi:type="dcterms:W3CDTF">2025-02-09T14:49:04Z</dcterms:created>
  <dcterms:modified xsi:type="dcterms:W3CDTF">2025-03-03T11:16:38Z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